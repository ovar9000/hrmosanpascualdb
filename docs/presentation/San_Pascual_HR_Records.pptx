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8be0c17-1bd7-d40f-6991-dd775a8f3503}">
          <p14:sldIdLst>
            <p14:sldId id="256"/>
          </p14:sldIdLst>
        </p14:section>
        <p14:section name="The problem" id="{911c232c-e2e8-ad39-db40-ff5f2b481b96}">
          <p14:sldIdLst>
            <p14:sldId id="257"/>
          </p14:sldIdLst>
        </p14:section>
        <p14:section name="The prototype" id="{b09f48f2-e36e-e3b2-201b-f7d100818e83}">
          <p14:sldIdLst>
            <p14:sldId id="258"/>
            <p14:sldId id="259"/>
          </p14:sldIdLst>
        </p14:section>
        <p14:section name="Demo" id="{6de23c7f-a51c-89ff-f483-c6cb1efb8057}">
          <p14:sldIdLst>
            <p14:sldId id="260"/>
          </p14:sldIdLst>
        </p14:section>
        <p14:section name="How it works" id="{08e46e4c-16dd-b9f8-06fb-bacf415378d9}">
          <p14:sldIdLst>
            <p14:sldId id="261"/>
            <p14:sldId id="262"/>
            <p14:sldId id="263"/>
            <p14:sldId id="264"/>
          </p14:sldIdLst>
        </p14:section>
        <p14:section name="Going live" id="{850777da-c43a-654c-2dc9-c69707ebdff6}">
          <p14:sldIdLst>
            <p14:sldId id="265"/>
            <p14:sldId id="266"/>
            <p14:sldId id="267"/>
          </p14:sldIdLst>
        </p14:section>
        <p14:section name="Decisions" id="{7666d7c7-d7c5-bd46-fc18-3f26293a526c}">
          <p14:sldIdLst>
            <p14:sldId id="268"/>
          </p14:sldIdLst>
        </p14:section>
        <p14:section name="Close" id="{fd53a322-9795-237b-9602-6e4951282c4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B2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2B25"/>
                </a:solidFill>
                <a:latin typeface="+mn-lt"/>
              </a:rPr>
              <a:t>Personnel by appointment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1F4E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2B2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Elected</c:v>
                  </c:pt>
                  <c:pt idx="1">
                    <c:v>Casual</c:v>
                  </c:pt>
                  <c:pt idx="2">
                    <c:v>Plantilla</c:v>
                  </c:pt>
                  <c:pt idx="3">
                    <c:v>JO / COS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94</c:v>
                </c:pt>
                <c:pt idx="3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C2B2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prototype: built for HRMO from the October survey. Say early and plainly that every name, ID and document in it is 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October survey of the HRMO Head and the Administrative Aide. Two-thirds of the workforce are JO / COS, so contract starts and ends dominate HRMO's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ideas everything else follows from. Wet-signed paper stays the legal master copy; the system tracks it, it does not replace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fake data matches the survey's mix so the demo feels realistic: about 420 people across the 25 offices.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demo, about 26 minutes. Follow docs/DEMO.md scene by scene, one browser window per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minimization under the Data Privacy Act. Point out that the Mayor's office sees names and positions but not IDs or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enrollment-page story: hiding something on the page isn't protection. Here the server re-checks every request, and the tests replay those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project needs a funding reference from Budget or Accounting before HRMO can hire onto it. Ask the Planning / Budget questions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entry starts with a word for its kind, so it reads without relying on colour. Show December: Dec 31 has one line for 314 contract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next step is waiting on something only HRMO can give. These map to the decisions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Go-Live Checklist in DECISIONS.md. Recommend office-network-only first; public internet access needs every item plus the second login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computation and attendance are outside the agreed scope. Requests are welcome; they go on a list and the HRMO Head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answers down during the meeting. Number 1 matters most: a live system with personal data needs a named owner before go-live.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floor. Collect the answers to the decisions slide and the questions in docs/DEMO.md.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San Pascual HR Records · Prototype, fake data only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San Pascual HR Records · Prototype, fake data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San Pascual HR Records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records system prototype for the Municipal HRMO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HRMO told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Records split across files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44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JO, permanent, service and leave records in separate sheets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Duplicate profiles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221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same person entered more than once, with conflicting details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Misplaced paper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99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Physical documents are hard to locate when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Slow, error-prone reports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76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Reports and leave balances take long and need rechecking</a:t>
            </a:r>
            <a:endParaRPr lang="en-US" sz="1200" dirty="0"/>
          </a:p>
        </p:txBody>
      </p:sp>
      <p:sp>
        <p:nvSpPr>
          <p:cNvPr id="19" name="Workforce callout"/>
          <p:cNvSpPr/>
          <p:nvPr/>
        </p:nvSpPr>
        <p:spPr>
          <a:xfrm>
            <a:off x="5760720" y="1143000"/>
            <a:ext cx="2926080" cy="30632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280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~420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municipal personnel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in 3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3200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 Job Order or Contract of Service workers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record, many protections</a:t>
            </a:r>
            <a:endParaRPr lang="en-US" sz="3000" dirty="0"/>
          </a:p>
        </p:txBody>
      </p:sp>
      <p:sp>
        <p:nvSpPr>
          <p:cNvPr id="3" name="Card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44752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One person, one record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appointment, renewal and end is added, never overwritten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83480" y="1444752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Paper stays the master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783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system records where each signed original is filed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457200" y="274320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944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Every action is logged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trail no one can alter, not even IT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4709160" y="2743200"/>
            <a:ext cx="39776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3044952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944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Each role sees its part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Office heads see their office; pay and IDs stay with HRMO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workforce in the prototype</a:t>
            </a:r>
            <a:endParaRPr lang="en-US" sz="3000" dirty="0"/>
          </a:p>
        </p:txBody>
      </p:sp>
      <p:graphicFrame>
        <p:nvGraphicFramePr>
          <p:cNvPr id="3" name="Workforce chart" descr=""/>
          <p:cNvGraphicFramePr/>
          <p:nvPr/>
        </p:nvGraphicFramePr>
        <p:xfrm>
          <a:off x="457200" y="1051560"/>
          <a:ext cx="5120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Mix from the October survey. Every record is generated; none is real.</a:t>
            </a:r>
            <a:endParaRPr lang="en-US" sz="1100" dirty="0"/>
          </a:p>
        </p:txBody>
      </p:sp>
      <p:sp>
        <p:nvSpPr>
          <p:cNvPr id="5" name="Stat offices"/>
          <p:cNvSpPr/>
          <p:nvPr/>
        </p:nvSpPr>
        <p:spPr>
          <a:xfrm>
            <a:off x="6035040" y="11430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25272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25272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offices</a:t>
            </a:r>
            <a:endParaRPr lang="en-US" sz="1500" dirty="0"/>
          </a:p>
        </p:txBody>
      </p:sp>
      <p:sp>
        <p:nvSpPr>
          <p:cNvPr id="8" name="Stat appointments"/>
          <p:cNvSpPr/>
          <p:nvPr/>
        </p:nvSpPr>
        <p:spPr>
          <a:xfrm>
            <a:off x="6035040" y="219456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63640" y="23042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444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30428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appointments</a:t>
            </a:r>
            <a:endParaRPr lang="en-US" sz="1500" dirty="0"/>
          </a:p>
        </p:txBody>
      </p:sp>
      <p:sp>
        <p:nvSpPr>
          <p:cNvPr id="11" name="Stat projects"/>
          <p:cNvSpPr/>
          <p:nvPr/>
        </p:nvSpPr>
        <p:spPr>
          <a:xfrm>
            <a:off x="6035040" y="324612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33558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3355848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projects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Today's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99616" y="146304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8872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91256" y="146304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18872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HRMO daily work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82896" y="146304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HR calendar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74536" y="146304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18872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Two people editing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118872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18470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sees what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99616" y="310896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283464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3493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Projects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 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91256" y="310896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283464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060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3493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Audit trail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10312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 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82896" y="310896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0" y="283464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976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3794760" y="3493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 admin limits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379476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min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74536" y="3108960"/>
            <a:ext cx="1069848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89320" y="283464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3493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Bulk accounts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80960" y="283464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7178040" y="3493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Close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3858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sees what</a:t>
            </a:r>
            <a:endParaRPr lang="en-US" sz="3000" dirty="0"/>
          </a:p>
        </p:txBody>
      </p:sp>
      <p:graphicFrame>
        <p:nvGraphicFramePr>
          <p:cNvPr id="7" name="Acces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position, office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and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Birthdate and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and salary 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Office roles see only their own office. Only the emergency superuser can give someone an HR role; IT sees no HR records.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 to resist misuse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97864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143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server checks every request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444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Editing the page or address with Inspect Element gets nothing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75104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History cannot be rewritten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21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Audit rows can't be changed; the DPO holds a check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6974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silent overwrites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99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If two staff edit one record, the second save is stopped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201168" cy="20116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Safer passwords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776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One-time passwords, a forced change, and lockout after 5 wrong tries</a:t>
            </a:r>
            <a:endParaRPr lang="en-US" sz="1200" dirty="0"/>
          </a:p>
        </p:txBody>
      </p:sp>
      <p:sp>
        <p:nvSpPr>
          <p:cNvPr id="15" name="Tests callout"/>
          <p:cNvSpPr/>
          <p:nvPr/>
        </p:nvSpPr>
        <p:spPr>
          <a:xfrm>
            <a:off x="5852160" y="1143000"/>
            <a:ext cx="2834640" cy="3063240"/>
          </a:xfrm>
          <a:prstGeom prst="roundRect">
            <a:avLst>
              <a:gd name="adj" fmla="val 2581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176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automated tests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2743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including forged requests that try the Inspect Element trick on every role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Projects: define, fund, then hire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Planning or Budget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Project Maintainer role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322576" y="1737360"/>
            <a:ext cx="228600" cy="22860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Step 2"/>
          <p:cNvSpPr/>
          <p:nvPr/>
        </p:nvSpPr>
        <p:spPr>
          <a:xfrm>
            <a:off x="2587752" y="11887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4912" y="129844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Records the project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dates and funding reference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53128" y="1737360"/>
            <a:ext cx="228600" cy="22860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Step 3"/>
          <p:cNvSpPr/>
          <p:nvPr/>
        </p:nvSpPr>
        <p:spPr>
          <a:xfrm>
            <a:off x="4718304" y="11887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5464" y="129844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HRMO hires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only onto funded, open projects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0" y="1737360"/>
            <a:ext cx="228600" cy="228600"/>
          </a:xfrm>
          <a:prstGeom prst="rightArrow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Step 4"/>
          <p:cNvSpPr/>
          <p:nvPr/>
        </p:nvSpPr>
        <p:spPr>
          <a:xfrm>
            <a:off x="6848856" y="1188720"/>
            <a:ext cx="18288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6016" y="129844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Contract fits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inside the project's dates</a:t>
            </a:r>
            <a:endParaRPr lang="en-US" sz="1600" dirty="0"/>
          </a:p>
        </p:txBody>
      </p:sp>
      <p:sp>
        <p:nvSpPr>
          <p:cNvPr id="14" name="Separation of duties"/>
          <p:cNvSpPr/>
          <p:nvPr/>
        </p:nvSpPr>
        <p:spPr>
          <a:xfrm>
            <a:off x="457200" y="283464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44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Separation of duties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3101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office that funds a project need not be the office that hires into it. Project Maintainers see headcounts, never names.</a:t>
            </a:r>
            <a:endParaRPr lang="en-US" sz="1400" dirty="0"/>
          </a:p>
        </p:txBody>
      </p:sp>
      <p:sp>
        <p:nvSpPr>
          <p:cNvPr id="17" name="Still to decide"/>
          <p:cNvSpPr/>
          <p:nvPr/>
        </p:nvSpPr>
        <p:spPr>
          <a:xfrm>
            <a:off x="4709160" y="283464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944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Still to decide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31012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 maintains projects: HRMO, Planning or Budget? Should JO / COS paid from a project be linked to it?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HR calendar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932688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93268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841248" cy="493776"/>
          </a:xfrm>
          <a:prstGeom prst="roundRect">
            <a:avLst>
              <a:gd name="adj" fmla="val 9259"/>
            </a:avLst>
          </a:prstGeom>
          <a:solidFill>
            <a:srgbClr val="F8F9FA"/>
          </a:solidFill>
          <a:ln w="9525">
            <a:solidFill>
              <a:srgbClr val="ADB5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" y="158191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</a:rPr>
              <a:t>Meeting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HRMO staff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841248" cy="493776"/>
          </a:xfrm>
          <a:prstGeom prst="roundRect">
            <a:avLst>
              <a:gd name="adj" fmla="val 9259"/>
            </a:avLst>
          </a:prstGeom>
          <a:solidFill>
            <a:srgbClr val="FFF3CD"/>
          </a:solidFill>
          <a:ln w="9525">
            <a:solidFill>
              <a:srgbClr val="FFD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" y="214884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4D03"/>
                </a:solidFill>
              </a:rPr>
              <a:t>Leave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4D03"/>
                </a:solidFill>
              </a:rPr>
              <a:t>Santos, 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81328" y="1143000"/>
            <a:ext cx="932688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81328" y="11430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81328" y="1463040"/>
            <a:ext cx="93268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7048" y="1554480"/>
            <a:ext cx="841248" cy="493776"/>
          </a:xfrm>
          <a:prstGeom prst="roundRect">
            <a:avLst>
              <a:gd name="adj" fmla="val 9259"/>
            </a:avLst>
          </a:prstGeom>
          <a:solidFill>
            <a:srgbClr val="0B5ED7"/>
          </a:solidFill>
          <a:ln w="9525">
            <a:solidFill>
              <a:srgbClr val="0B5E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63624" y="158191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09:30 Admin Aide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27048" y="2121408"/>
            <a:ext cx="841248" cy="493776"/>
          </a:xfrm>
          <a:prstGeom prst="roundRect">
            <a:avLst>
              <a:gd name="adj" fmla="val 9259"/>
            </a:avLst>
          </a:prstGeom>
          <a:solidFill>
            <a:srgbClr val="FFF3CD"/>
          </a:solidFill>
          <a:ln w="9525">
            <a:solidFill>
              <a:srgbClr val="FFDA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63624" y="214884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4D03"/>
                </a:solidFill>
              </a:rPr>
              <a:t>Leave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4D03"/>
                </a:solidFill>
              </a:rPr>
              <a:t>Reyes, 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05456" y="1143000"/>
            <a:ext cx="932688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05456" y="11430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05456" y="1463040"/>
            <a:ext cx="93268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1176" y="1554480"/>
            <a:ext cx="841248" cy="493776"/>
          </a:xfrm>
          <a:prstGeom prst="roundRect">
            <a:avLst>
              <a:gd name="adj" fmla="val 9259"/>
            </a:avLst>
          </a:prstGeom>
          <a:solidFill>
            <a:srgbClr val="B02A37"/>
          </a:solidFill>
          <a:ln w="9525">
            <a:solidFill>
              <a:srgbClr val="B02A3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87752" y="158191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CSC RAI report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9584" y="1143000"/>
            <a:ext cx="932688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9584" y="11430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9584" y="1463040"/>
            <a:ext cx="93268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5304" y="1554480"/>
            <a:ext cx="841248" cy="493776"/>
          </a:xfrm>
          <a:prstGeom prst="roundRect">
            <a:avLst>
              <a:gd name="adj" fmla="val 9259"/>
            </a:avLst>
          </a:prstGeom>
          <a:solidFill>
            <a:srgbClr val="6C757D"/>
          </a:solidFill>
          <a:ln w="9525">
            <a:solidFill>
              <a:srgbClr val="6C757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158191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Holiday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Saints' 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53712" y="1143000"/>
            <a:ext cx="932688" cy="320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53712" y="114300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53712" y="1463040"/>
            <a:ext cx="932688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9432" y="1554480"/>
            <a:ext cx="841248" cy="493776"/>
          </a:xfrm>
          <a:prstGeom prst="roundRect">
            <a:avLst>
              <a:gd name="adj" fmla="val 9259"/>
            </a:avLst>
          </a:prstGeom>
          <a:solidFill>
            <a:srgbClr val="212529"/>
          </a:solidFill>
          <a:ln w="9525">
            <a:solidFill>
              <a:srgbClr val="21252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36008" y="1581912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314 contract ends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An example week from the demo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1371600"/>
            <a:ext cx="182880" cy="18288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80760" y="1143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role sees only its part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760720" y="2057400"/>
            <a:ext cx="182880" cy="18288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18288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Busy days collapse: 314 contract ends become one line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760720" y="2743200"/>
            <a:ext cx="182880" cy="18288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80760" y="2514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Click a day for the full list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760720" y="3429000"/>
            <a:ext cx="182880" cy="18288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80760" y="32004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Phones get a simple list instead of the grid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comes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Built so far: records, appointments, documents, roles, audit trail, projects and the HR calendar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63040" y="2331720"/>
            <a:ext cx="630936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05740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Needs: which reports HRMO wants 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05740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 filing and approval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Needs: the confirmed approval order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05740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Excel import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Needs: sample sheets with personal data blanked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2057400"/>
            <a:ext cx="548640" cy="54864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Phone self-service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291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Needs: HTTPS and a password-reset screen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Before real data goes in</a:t>
            </a:r>
            <a:endParaRPr lang="en-US" sz="3000" dirty="0"/>
          </a:p>
        </p:txBody>
      </p:sp>
      <p:sp>
        <p:nvSpPr>
          <p:cNvPr id="3" name="Privacy"/>
          <p:cNvSpPr/>
          <p:nvPr/>
        </p:nvSpPr>
        <p:spPr>
          <a:xfrm>
            <a:off x="457200" y="109728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Privacy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DPO approval (RA 10173)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Privacy Impact Assessment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NPC registration check</a:t>
            </a:r>
            <a:endParaRPr lang="en-US" sz="1400" dirty="0"/>
          </a:p>
        </p:txBody>
      </p:sp>
      <p:sp>
        <p:nvSpPr>
          <p:cNvPr id="6" name="Security"/>
          <p:cNvSpPr/>
          <p:nvPr/>
        </p:nvSpPr>
        <p:spPr>
          <a:xfrm>
            <a:off x="2560320" y="109728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Security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6916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Second login step for HRMO, Auditor and admins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Penetration test</a:t>
            </a:r>
            <a:endParaRPr lang="en-US" sz="1400" dirty="0"/>
          </a:p>
        </p:txBody>
      </p:sp>
      <p:sp>
        <p:nvSpPr>
          <p:cNvPr id="9" name="Operations"/>
          <p:cNvSpPr/>
          <p:nvPr/>
        </p:nvSpPr>
        <p:spPr>
          <a:xfrm>
            <a:off x="4663440" y="109728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Operations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6916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Nightly encrypted backups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Server with UPS in a locked room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Office network first</a:t>
            </a:r>
            <a:endParaRPr lang="en-US" sz="1400" dirty="0"/>
          </a:p>
        </p:txBody>
      </p:sp>
      <p:sp>
        <p:nvSpPr>
          <p:cNvPr id="12" name="People"/>
          <p:cNvSpPr/>
          <p:nvPr/>
        </p:nvSpPr>
        <p:spPr>
          <a:xfrm>
            <a:off x="6766560" y="1097280"/>
            <a:ext cx="1920240" cy="26974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234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People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69164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named maintainer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HRMO and heads first, employees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password-reset routine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Until all of this is done, the system runs on fake data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Other offices and new requests</a:t>
            </a:r>
            <a:endParaRPr lang="en-US" sz="3000" dirty="0"/>
          </a:p>
        </p:txBody>
      </p:sp>
      <p:sp>
        <p:nvSpPr>
          <p:cNvPr id="3" name="Wants HRMO's data"/>
          <p:cNvSpPr/>
          <p:nvPr/>
        </p:nvSpPr>
        <p:spPr>
          <a:xfrm>
            <a:off x="457200" y="109728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Wants HRMO's data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64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e.g. Budget asks for payroll inputs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574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HRMO Head decides and the DPO reviews. Met with reports or narrow roles, never broad access to personnel records.</a:t>
            </a:r>
            <a:endParaRPr lang="en-US" sz="1500" dirty="0"/>
          </a:p>
        </p:txBody>
      </p:sp>
      <p:sp>
        <p:nvSpPr>
          <p:cNvPr id="7" name="Wants its own system"/>
          <p:cNvSpPr/>
          <p:nvPr/>
        </p:nvSpPr>
        <p:spPr>
          <a:xfrm>
            <a:off x="4709160" y="109728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234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Wants its own system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64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e.g. Treasurer wants a system like this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0574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new project: its own approval, privacy review, budget and maintainer.</a:t>
            </a:r>
            <a:endParaRPr lang="en-US" sz="1500" dirty="0"/>
          </a:p>
        </p:txBody>
      </p:sp>
      <p:sp>
        <p:nvSpPr>
          <p:cNvPr id="11" name="Request rule"/>
          <p:cNvSpPr/>
          <p:nvPr/>
        </p:nvSpPr>
        <p:spPr>
          <a:xfrm>
            <a:off x="457200" y="34747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747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request is written down and decided by the HRMO Head.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Decisions we need from you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owns and maintains the system after the prototype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Office network only, or internet access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confirmed leave approval order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Sample Excel sheets, personal data blanked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219456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maintains projects: HRMO, Planning or Budget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502920" cy="50292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reports to build first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Maraming salamat po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 and feedback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n Pascual HR">
  <a:themeElements>
    <a:clrScheme name="San Pascual HR">
      <a:dk1>
        <a:srgbClr val="1C2B25"/>
      </a:dk1>
      <a:lt1>
        <a:srgbClr val="FFFFFF"/>
      </a:lt1>
      <a:dk2>
        <a:srgbClr val="1F4E3D"/>
      </a:dk2>
      <a:lt2>
        <a:srgbClr val="EEF3F0"/>
      </a:lt2>
      <a:accent1>
        <a:srgbClr val="1F4E3D"/>
      </a:accent1>
      <a:accent2>
        <a:srgbClr val="C9971C"/>
      </a:accent2>
      <a:accent3>
        <a:srgbClr val="B3412E"/>
      </a:accent3>
      <a:accent4>
        <a:srgbClr val="4F7A63"/>
      </a:accent4>
      <a:accent5>
        <a:srgbClr val="5F6F68"/>
      </a:accent5>
      <a:accent6>
        <a:srgbClr val="D3DED8"/>
      </a:accent6>
      <a:hlink>
        <a:srgbClr val="1F4E3D"/>
      </a:hlink>
      <a:folHlink>
        <a:srgbClr val="4F7A63"/>
      </a:folHlink>
    </a:clrScheme>
    <a:fontScheme name="San Pascual H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Pascual HR Records</dc:title>
  <dc:subject>PptxGenJS Presentation</dc:subject>
  <dc:creator>San Pascual HRMO prototype</dc:creator>
  <cp:lastModifiedBy>San Pascual HRMO prototype</cp:lastModifiedBy>
  <cp:revision>1</cp:revision>
  <dcterms:created xsi:type="dcterms:W3CDTF">2026-10-13T02:18:01Z</dcterms:created>
  <dcterms:modified xsi:type="dcterms:W3CDTF">2026-10-13T02:18:01Z</dcterms:modified>
</cp:coreProperties>
</file>